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NEC Code Inspector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CADCFC"/>
                </a:solidFill>
                <a:latin typeface="Calibri"/>
              </a:defRPr>
            </a:pPr>
            <a:r>
              <a:t>AR/VR Training for the National Electrical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ADCFC"/>
                </a:solidFill>
                <a:latin typeface="Calibri"/>
              </a:defRPr>
            </a:pPr>
            <a:r>
              <a:t>NEC/NFPA 70 • 2026 Edition • zSpace Inspire 2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846320"/>
            <a:ext cx="2286000" cy="36576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120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Project Brief  •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  <a:latin typeface="Calibri"/>
              </a:defRPr>
            </a:pPr>
            <a:r>
              <a:t>NEC Code Inspector is an AR/VR educational app for the zSpace Inspire 2 that trains students on the National Electrical Code through hands-on 3D inspection scenarios, panel design, and NEC certification assessments.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94560"/>
            <a:ext cx="25603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194560"/>
            <a:ext cx="256032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65A82"/>
                </a:solidFill>
                <a:latin typeface="Calibri"/>
              </a:defRPr>
            </a:pPr>
            <a:r>
              <a:t>zSpace Inspire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Platform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39" y="2194560"/>
            <a:ext cx="25603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20439" y="2194560"/>
            <a:ext cx="25603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599" y="23774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0B981"/>
                </a:solidFill>
                <a:latin typeface="Calibri"/>
              </a:defRPr>
            </a:pPr>
            <a:r>
              <a:t>3 Difficulty Tiers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599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CTE → Apprentice → Expert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59" y="2194560"/>
            <a:ext cx="25603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59" y="2194560"/>
            <a:ext cx="2560320" cy="54864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3774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2761"/>
                </a:solidFill>
                <a:latin typeface="Calibri"/>
              </a:defRPr>
            </a:pPr>
            <a:r>
              <a:t>73 Scripts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Architecture Complete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98280" y="2194560"/>
            <a:ext cx="25603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98280" y="2194560"/>
            <a:ext cx="25603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23774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59E0B"/>
                </a:solidFill>
                <a:latin typeface="Calibri"/>
              </a:defRPr>
            </a:pPr>
            <a:r>
              <a:t>66 NEC Articles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Targeting 200+ at Beta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840480"/>
            <a:ext cx="10698480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397763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Only AR/VR NEC training tool with 3D stereoscopic inspection, three difficulty tiers, and direct NEC article citation practice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937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Calibri"/>
              </a:defRPr>
            </a:pPr>
            <a:r>
              <a:t>TARGET USERS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303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  <a:buChar char="•"/>
            </a:pPr>
            <a:r>
              <a:t>CTE high school students (Beginner mode)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  <a:buChar char="•"/>
            </a:pPr>
            <a:r>
              <a:t>Trade school apprentices (Standard mode)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  <a:buChar char="•"/>
            </a:pPr>
            <a:r>
              <a:t>Licensed electricians &amp; inspectors (Expert mode)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Three Core Modes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338328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54864" cy="50292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07007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Calibri"/>
              </a:defRPr>
            </a:pPr>
            <a:r>
              <a:t>1. Inspection Scenarios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Inspect 3D electrical installations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Flag violations and cite NEC articles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Scored feedback with article review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5 scenarios planned: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  Residential Service Panel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  Branch Circuit Wiring (12 violations)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  Grounding &amp; Bonding (10 violations)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  Commercial Installation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  Outdoor/Wet Location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097280"/>
            <a:ext cx="338328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097280"/>
            <a:ext cx="54864" cy="5029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207007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Calibri"/>
              </a:defRPr>
            </a:pPr>
            <a:r>
              <a:t>2. Panel Design Sandbox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60020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Design residential electrical panels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Drag breakers to panel slots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Route wires with correct gauge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10-rule NEC compliance checker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Art. 220 load calculation engine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Residential 200A panel challenge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12 required circuits to place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Score: compliance + load accuracy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097280"/>
            <a:ext cx="338328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097280"/>
            <a:ext cx="54864" cy="5029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207007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Calibri"/>
              </a:defRPr>
            </a:pPr>
            <a:r>
              <a:t>3. Reference &amp; Assessment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60020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Searchable NEC article database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10 quick reference cards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Progress dashboard with history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Chapter mastery tracking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Certificate generation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Score tracking across sessions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Best-attempt leaderboard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JSON persistence for LMS export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Adaptive Difficulty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560320" cy="502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Feature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337559" y="1188720"/>
            <a:ext cx="2468880" cy="5029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8999" y="1280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Beginner (CTE)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59" y="1188720"/>
            <a:ext cx="265176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599" y="1280160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Standard (Apprentice)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49640" y="1188720"/>
            <a:ext cx="265176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41080" y="1280160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Expert (Licensed)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1737360"/>
            <a:ext cx="25603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828800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NEC Citation Method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59" y="1737360"/>
            <a:ext cx="24688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8999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Calibri"/>
              </a:defRPr>
            </a:pPr>
            <a:r>
              <a:t>Dropdown menu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2159" y="1737360"/>
            <a:ext cx="26517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599" y="1828800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Calibri"/>
              </a:defRPr>
            </a:pPr>
            <a:r>
              <a:t>Searchable field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49640" y="1737360"/>
            <a:ext cx="26517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41080" y="1828800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Calibri"/>
              </a:defRPr>
            </a:pPr>
            <a:r>
              <a:t>Free text input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2286000"/>
            <a:ext cx="25603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2377440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Hints &amp; Scaffolding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37559" y="2286000"/>
            <a:ext cx="24688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28999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Calibri"/>
              </a:defRPr>
            </a:pPr>
            <a:r>
              <a:t>Yes + timed hints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52159" y="2286000"/>
            <a:ext cx="26517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599" y="2377440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49640" y="2286000"/>
            <a:ext cx="26517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41080" y="2377440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2834640"/>
            <a:ext cx="25603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2926080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Time Limit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37559" y="2834640"/>
            <a:ext cx="24688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28999" y="2926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Calibri"/>
              </a:defRPr>
            </a:pPr>
            <a:r>
              <a:t>None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52159" y="2834640"/>
            <a:ext cx="26517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599" y="2926080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Calibri"/>
              </a:defRPr>
            </a:pPr>
            <a:r>
              <a:t>None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49640" y="2834640"/>
            <a:ext cx="26517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41080" y="2926080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Calibri"/>
              </a:defRPr>
            </a:pPr>
            <a:r>
              <a:t>20 minutes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3383280"/>
            <a:ext cx="25603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3474720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Subtle Violations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37559" y="3383280"/>
            <a:ext cx="24688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28999" y="3474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Calibri"/>
              </a:defRPr>
            </a:pPr>
            <a:r>
              <a:t>Hidden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52159" y="3383280"/>
            <a:ext cx="26517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599" y="3474720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Calibri"/>
              </a:defRPr>
            </a:pPr>
            <a:r>
              <a:t>Hidden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49640" y="3383280"/>
            <a:ext cx="26517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41080" y="3474720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Calibri"/>
              </a:defRPr>
            </a:pPr>
            <a:r>
              <a:t>Visible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" y="3931920"/>
            <a:ext cx="25603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" y="4023360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False Positive Penalty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337559" y="3931920"/>
            <a:ext cx="24688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28999" y="4023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852159" y="3931920"/>
            <a:ext cx="26517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43599" y="4023360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549640" y="3931920"/>
            <a:ext cx="26517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41080" y="4023360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31520" y="4480560"/>
            <a:ext cx="25603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2960" y="4572000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Violation Count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337559" y="4480560"/>
            <a:ext cx="24688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28999" y="4572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Calibri"/>
              </a:defRPr>
            </a:pPr>
            <a:r>
              <a:t>5 per scenario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852159" y="4480560"/>
            <a:ext cx="26517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43599" y="4572000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Calibri"/>
              </a:defRPr>
            </a:pPr>
            <a:r>
              <a:t>10 per scenario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549640" y="4480560"/>
            <a:ext cx="26517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41080" y="4572000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Calibri"/>
              </a:defRPr>
            </a:pPr>
            <a:r>
              <a:t>All (10-12)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5120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Students progress from guided Beginner mode through self-directed Expert mode, mirroring the journey from CTE classroom to professional licensing exam.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4864" cy="3657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Unity 6.3 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+ zCore 6.3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057400"/>
            <a:ext cx="54864" cy="3657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57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Windows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057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zSpace Inspire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560320"/>
            <a:ext cx="54864" cy="3657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560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6DOF Stylus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560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Primary input + mouse fallback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063240"/>
            <a:ext cx="54864" cy="3657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063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World Space 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063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Required for stereo 3D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566160"/>
            <a:ext cx="54864" cy="3657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566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90fps 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566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Stereo rendering minimum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069080"/>
            <a:ext cx="54864" cy="3657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069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JSON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4069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NEC articles + progress persistence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Calibri"/>
              </a:defRPr>
            </a:pPr>
            <a:r>
              <a:t>73 SCRIPTS ACROSS 10 MODULES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1554480"/>
            <a:ext cx="2194560" cy="29260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157276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157276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Core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1965960"/>
            <a:ext cx="3017520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1984248"/>
            <a:ext cx="2926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38360" y="198424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PanelSandbox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2377440"/>
            <a:ext cx="2194560" cy="29260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239572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15400" y="239572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Inspection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2788920"/>
            <a:ext cx="1920240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28072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41080" y="280720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UI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0" y="3200400"/>
            <a:ext cx="1920240" cy="29260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0" y="321868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41080" y="321868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Inputs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0" y="3611880"/>
            <a:ext cx="1371600" cy="29260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0" y="36301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92440" y="363016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0" y="4023360"/>
            <a:ext cx="1371600" cy="29260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0" y="40416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92440" y="404164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Editor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0" y="4434840"/>
            <a:ext cx="1097280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75120" y="4453127"/>
            <a:ext cx="1005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18120" y="4453127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Tools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0" y="4846320"/>
            <a:ext cx="2194560" cy="29260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75120" y="4864607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15400" y="4864607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Utils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83680" y="5257800"/>
            <a:ext cx="548640" cy="29260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75120" y="5276088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69480" y="527608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NEC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Development Timeline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07007"/>
            <a:ext cx="164592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86384" y="1417319"/>
            <a:ext cx="54864" cy="4754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097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Steps 1-3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097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Weeks 1-2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1170432"/>
            <a:ext cx="731520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73168" y="1170432"/>
            <a:ext cx="694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10972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Core systems, NEC database, inspection framework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956816"/>
            <a:ext cx="164592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6384" y="2167128"/>
            <a:ext cx="54864" cy="4754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184708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Steps 4-5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184708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Weeks 3-4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1920240"/>
            <a:ext cx="731520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73168" y="1920240"/>
            <a:ext cx="694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184708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Branch circuits (12 violations), panel sandbox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706624"/>
            <a:ext cx="164592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6384" y="2916936"/>
            <a:ext cx="54864" cy="4754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259689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Steps 6-7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259689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Weeks 5-6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0" y="2670048"/>
            <a:ext cx="731520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73168" y="2670048"/>
            <a:ext cx="694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2596896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Reference cards, certificates, audio, main menu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456432"/>
            <a:ext cx="164592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6384" y="3666744"/>
            <a:ext cx="54864" cy="4754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334670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Unity Assembly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334670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Weeks 7-8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54880" y="3419856"/>
            <a:ext cx="731520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3419856"/>
            <a:ext cx="694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Next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0" y="3346704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Scenes, prefabs, 3D assets, UI wiring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4206240"/>
            <a:ext cx="164592" cy="1645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6384" y="4416551"/>
            <a:ext cx="54864" cy="4754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7280" y="4096511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Alpha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4096511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Weeks 9-10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54880" y="4169663"/>
            <a:ext cx="731520" cy="25603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73168" y="4169663"/>
            <a:ext cx="694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Planned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4096511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Scenarios 3-5, 200+ articles, tutorial system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4956048"/>
            <a:ext cx="164592" cy="1645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86384" y="5166359"/>
            <a:ext cx="54864" cy="4754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97280" y="4846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Beta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0" y="4846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Weeks 11-16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754880" y="4919472"/>
            <a:ext cx="731520" cy="25603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73168" y="4919472"/>
            <a:ext cx="694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Planned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0" y="48463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Full content, analytics, exam prep mode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0" y="5705856"/>
            <a:ext cx="164592" cy="1645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97280" y="55961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Release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400" y="559612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Weeks 17-20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754880" y="5669280"/>
            <a:ext cx="731520" cy="25603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73168" y="5669280"/>
            <a:ext cx="694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Planned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9280" y="559612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Polish, accessibility, state licensing alignment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AI Integration Opportunity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5486400" cy="3200400"/>
          </a:xfrm>
          <a:prstGeom prst="rect">
            <a:avLst/>
          </a:prstGeom>
          <a:solidFill>
            <a:srgbClr val="273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5A82"/>
                </a:solidFill>
                <a:latin typeface="Calibri"/>
              </a:defRPr>
            </a:pPr>
            <a:r>
              <a:t>World Labs Marble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DCFC"/>
                </a:solidFill>
                <a:latin typeface="Calibri"/>
              </a:defRPr>
            </a:pPr>
            <a:r>
              <a:t>AI-Generated 3D Environments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  <a:latin typeface="Calibri"/>
              </a:defRPr>
              <a:buChar char="•"/>
            </a:pPr>
            <a:r>
              <a:t>Generate photorealistic rooms from text prompts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  <a:latin typeface="Calibri"/>
              </a:defRPr>
              <a:buChar char="•"/>
            </a:pPr>
            <a:r>
              <a:t>Export GLB mesh + Gaussian splat to Unity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  <a:latin typeface="Calibri"/>
              </a:defRPr>
              <a:buChar char="•"/>
            </a:pPr>
            <a:r>
              <a:t>~5 min per environment, ~$1.28 each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  <a:latin typeface="Calibri"/>
              </a:defRPr>
              <a:buChar char="•"/>
            </a:pPr>
            <a:r>
              <a:t>Replace manual 3D modeling for 5+ scenarios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  <a:latin typeface="Calibri"/>
              </a:defRPr>
              <a:buChar char="•"/>
            </a:pPr>
            <a:r>
              <a:t>Total estimated budget: ~$250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1188720"/>
            <a:ext cx="4846320" cy="3200400"/>
          </a:xfrm>
          <a:prstGeom prst="rect">
            <a:avLst/>
          </a:prstGeom>
          <a:solidFill>
            <a:srgbClr val="273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325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Calibri"/>
              </a:defRPr>
            </a:pPr>
            <a:r>
              <a:t>Additional AI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1828800"/>
            <a:ext cx="4572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  <a:buChar char="•"/>
            </a:pPr>
            <a:r>
              <a:t>NEC Q&amp;A Chatbot (Claude API)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  <a:buChar char="•"/>
            </a:pPr>
            <a:r>
              <a:t>  Students ask contextual code questions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  <a:buChar char="•"/>
            </a:pPr>
            <a:r>
              <a:t>Adaptive Difficulty (ML)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  <a:buChar char="•"/>
            </a:pPr>
            <a:r>
              <a:t>  Auto-adjust based on performance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  <a:buChar char="•"/>
            </a:pPr>
            <a:r>
              <a:t>Procedural Violations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  <a:buChar char="•"/>
            </a:pPr>
            <a:r>
              <a:t>  Unique sessions, no memorization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  <a:buChar char="•"/>
            </a:pPr>
            <a:r>
              <a:t>Photo-to-Scenario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  <a:buChar char="•"/>
            </a:pPr>
            <a:r>
              <a:t>  Teachers upload photos → AI generates scenarios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754880"/>
            <a:ext cx="10698480" cy="7315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846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World Labs: ~170 generations at $1.28 each = $218 total  |  Start with $50 for prototyping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Value Proposition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338328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54864" cy="27432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07007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Calibri"/>
              </a:defRPr>
            </a:pPr>
            <a:r>
              <a:t>For Students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Learn NEC through hands-on 3D inspection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Practice citing specific code articles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Skill tested directly on licensing exams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Difficulty grows from CTE to journeyman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Immediate scored feedback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097280"/>
            <a:ext cx="338328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097280"/>
            <a:ext cx="54864" cy="2743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207007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Calibri"/>
              </a:defRPr>
            </a:pPr>
            <a:r>
              <a:t>For Educators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600200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Aligns with NEC 2026 (latest code cycle)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Progress tracking for grading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Certificate generation for records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Difficulty tiers serve mixed classrooms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Scenario assessment mirrors real inspections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097280"/>
            <a:ext cx="338328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097280"/>
            <a:ext cx="54864" cy="2743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207007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Calibri"/>
              </a:defRPr>
            </a:pPr>
            <a:r>
              <a:t>For CTE Programs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600200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Only AR/VR NEC training tool available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Runs on existing zSpace Inspire 2 hardware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Covers electrical curriculum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Certificate tracking for accreditation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Differentiated offering for the program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206240"/>
            <a:ext cx="106984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343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Calibri"/>
              </a:defRPr>
            </a:pPr>
            <a:r>
              <a:t>COMPETITIVE DIFFERENTIATION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7548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  <a:buChar char="•"/>
            </a:pPr>
            <a:r>
              <a:t>First and only AR/VR training tool for the National Electrical Code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  <a:buChar char="•"/>
            </a:pPr>
            <a:r>
              <a:t>Direct NEC article citation practice — the exact skill tested on licensing exams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  <a:buChar char="•"/>
            </a:pPr>
            <a:r>
              <a:t>Three difficulty tiers serve the full pipeline from CTE student to licensed electrician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  <a:buChar char="•"/>
            </a:pPr>
            <a:r>
              <a:t>NEC 2026 edition ensures always-current content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Content Coverage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53035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530352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761"/>
                </a:solidFill>
                <a:latin typeface="Calibri"/>
              </a:defRPr>
            </a:pPr>
            <a:r>
              <a:t>66 NEC Articles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234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targeting 200+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Ch 1: General Requirements (Art. 110)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Ch 2: Branch Circuits, Services, Grounding (Art. 210-250)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Ch 3: Wiring Methods (Art. 310, 334)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Ch 4: Equipment (Art. 406, 408, 410, 422, 430)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Ch 6: Special Equipment (Art. 680)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097280"/>
            <a:ext cx="502920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097280"/>
            <a:ext cx="50292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234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761"/>
                </a:solidFill>
                <a:latin typeface="Calibri"/>
              </a:defRPr>
            </a:pPr>
            <a:r>
              <a:t>34 Violations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1234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across 3 scenarios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69164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12 Branch Circuit (GFCI, AFCI, spacing, wire gauge)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10 Grounding &amp; Bonding (electrodes, bonding, GEC)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12 Panel Sandbox compliance rules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Difficulty-filtered: Beginner sees 4-5, Expert sees all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Each violation maps to specific NEC article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931920"/>
            <a:ext cx="106984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931920"/>
            <a:ext cx="106984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69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761"/>
                </a:solidFill>
                <a:latin typeface="Calibri"/>
              </a:defRPr>
            </a:pPr>
            <a:r>
              <a:t>10 Quick Reference Cards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72000"/>
            <a:ext cx="192024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64515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GFCI Protection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4572000"/>
            <a:ext cx="192024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08960" y="464515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AFCI Protection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20640" y="4572000"/>
            <a:ext cx="192024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9" y="464515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Wire Sizing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59" y="4572000"/>
            <a:ext cx="192024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199" y="464515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Branch Circuits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26880" y="4572000"/>
            <a:ext cx="192024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19" y="464515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Receptacle Spacing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5166360"/>
            <a:ext cx="192024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23951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Load Calculation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17520" y="5166360"/>
            <a:ext cx="192024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08960" y="523951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Grounding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20640" y="5166360"/>
            <a:ext cx="192024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12079" y="523951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Panel Design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23759" y="5166360"/>
            <a:ext cx="192024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199" y="523951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NM Cable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326880" y="5166360"/>
            <a:ext cx="192024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18319" y="523951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2026 NEC Changes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303520" cy="3840480"/>
          </a:xfrm>
          <a:prstGeom prst="rect">
            <a:avLst/>
          </a:prstGeom>
          <a:solidFill>
            <a:srgbClr val="273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5A82"/>
                </a:solidFill>
                <a:latin typeface="Calibri"/>
              </a:defRPr>
            </a:pPr>
            <a:r>
              <a:t>Immediate (Weeks 7-8)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937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  <a:buChar char="•"/>
            </a:pPr>
            <a:r>
              <a:t>Run 5 editor generators in Unity to create SO assets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  <a:buChar char="•"/>
            </a:pPr>
            <a:r>
              <a:t>Build Boot and MainMenu scenes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  <a:buChar char="•"/>
            </a:pPr>
            <a:r>
              <a:t>Assemble 3D inspection environments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  <a:buChar char="•"/>
            </a:pPr>
            <a:r>
              <a:t>Wire UI prefabs to scripted panels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  <a:buChar char="•"/>
            </a:pPr>
            <a:r>
              <a:t>zSpace hardware testing and 90fps validation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  <a:buChar char="•"/>
            </a:pPr>
            <a:r>
              <a:t>Prototype World Labs Marble pipeline ($50)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463040"/>
            <a:ext cx="5029200" cy="3840480"/>
          </a:xfrm>
          <a:prstGeom prst="rect">
            <a:avLst/>
          </a:prstGeom>
          <a:solidFill>
            <a:srgbClr val="273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6002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Decisions Needed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057400"/>
            <a:ext cx="4663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  <a:buChar char="•"/>
            </a:pPr>
            <a:r>
              <a:t>Approve World Labs credit budget (~$250)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  <a:buChar char="•"/>
            </a:pPr>
            <a:r>
              <a:t>3D asset source: AI-generated vs. manual modeling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  <a:buChar char="•"/>
            </a:pPr>
            <a:r>
              <a:t>Alpha demo target audience and date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  <a:buChar char="•"/>
            </a:pPr>
            <a:r>
              <a:t>LMS integration requirements for progress export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  <a:buChar char="•"/>
            </a:pPr>
            <a:r>
              <a:t>Audio asset sourcing (SFX library or custom)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  <a:buChar char="•"/>
            </a:pPr>
            <a:r>
              <a:t>QA test plan for zSpace hardware matrix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ADCFC"/>
                </a:solidFill>
                <a:latin typeface="Calibri"/>
              </a:defRPr>
            </a:pPr>
            <a:r>
              <a:t>All script architecture is complete. The path to alpha is scene assembly + 3D content.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